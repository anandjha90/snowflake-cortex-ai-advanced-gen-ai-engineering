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02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81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23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60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8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60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0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23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03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07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99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63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Snowflake Cortex Search</a:t>
            </a:r>
          </a:p>
          <a:p>
            <a:pPr>
              <a:spcBef>
                <a:spcPts val="1000"/>
              </a:spcBef>
              <a:defRPr sz="2300">
                <a:solidFill>
                  <a:srgbClr val="CDE1F5"/>
                </a:solidFill>
                <a:latin typeface="Aptos"/>
              </a:defRPr>
            </a:pPr>
            <a:r>
              <a:t>RAG-Based Document Question Answering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8145" y="3611881"/>
            <a:ext cx="71581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Project Overview  •  Architecture  •  Workflow  •  Evaluation  </a:t>
            </a:r>
          </a:p>
          <a:p>
            <a:pPr>
              <a:defRPr sz="1200">
                <a:solidFill>
                  <a:srgbClr val="CDE1F5"/>
                </a:solidFill>
                <a:latin typeface="Aptos"/>
              </a:defRPr>
            </a:pPr>
            <a:r>
              <a:rPr dirty="0"/>
              <a:t>
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1C672-BEC1-4CFF-8A87-98D68972B029}"/>
              </a:ext>
            </a:extLst>
          </p:cNvPr>
          <p:cNvSpPr txBox="1"/>
          <p:nvPr/>
        </p:nvSpPr>
        <p:spPr>
          <a:xfrm>
            <a:off x="5823526" y="4024170"/>
            <a:ext cx="60054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 </a:t>
            </a:r>
          </a:p>
          <a:p>
            <a:pPr>
              <a:defRPr sz="1200">
                <a:solidFill>
                  <a:srgbClr val="CDE1F5"/>
                </a:solidFill>
                <a:latin typeface="Aptos"/>
              </a:defRPr>
            </a:pPr>
            <a:r>
              <a:rPr sz="2000" dirty="0">
                <a:solidFill>
                  <a:schemeClr val="accent5">
                    <a:lumMod val="50000"/>
                  </a:schemeClr>
                </a:solidFill>
              </a:rPr>
              <a:t>
Presented by: Mummana Venkatesh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1. Overall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Builds a question-answering assistant that uses information from a selected set of documents.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Uses Retrieval-Augmented Generation (RAG): retrieve relevant text first, then generate an answer using an LLM.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Snowflake stores and processes document text; Cortex Search retrieves relevant passages.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A language model uses the retrieved passages and user question to formulate a natural-language response.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Streamlit provides a simple interface for users to submit questions and view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Main components and their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4860" y="3885529"/>
            <a:ext cx="2194560" cy="963167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Documents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PDF manuals / knowledge files</a:t>
            </a:r>
            <a:br>
              <a:rPr dirty="0"/>
            </a:br>
            <a:r>
              <a:rPr dirty="0"/>
              <a:t>Input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2467" y="3885529"/>
            <a:ext cx="2469342" cy="915741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Snowflake Stage + SQL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Store files, extract text,</a:t>
            </a:r>
            <a:br>
              <a:rPr dirty="0"/>
            </a:br>
            <a:r>
              <a:rPr dirty="0"/>
              <a:t>prepare searchable 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6891" y="3839140"/>
            <a:ext cx="2228273" cy="926454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Cortex Search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Find relevant document</a:t>
            </a:r>
            <a:br>
              <a:rPr dirty="0"/>
            </a:br>
            <a:r>
              <a:rPr dirty="0"/>
              <a:t>passages for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5712" y="3839140"/>
            <a:ext cx="2441448" cy="915740"/>
          </a:xfrm>
          <a:prstGeom prst="roundRect">
            <a:avLst/>
          </a:prstGeom>
          <a:solidFill>
            <a:srgbClr val="FFEFDA"/>
          </a:solidFill>
          <a:ln>
            <a:solidFill>
              <a:srgbClr val="FF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LLM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Use question + retrieved context</a:t>
            </a:r>
            <a:br>
              <a:rPr dirty="0"/>
            </a:br>
            <a:r>
              <a:rPr dirty="0"/>
              <a:t>to generate an answer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2628" y="4247388"/>
            <a:ext cx="771166" cy="329184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755017" y="4247388"/>
            <a:ext cx="541874" cy="329184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8525164" y="4178808"/>
            <a:ext cx="600548" cy="329184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83964" y="4931848"/>
            <a:ext cx="3613127" cy="100570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 err="1"/>
              <a:t>Streamlit</a:t>
            </a:r>
            <a:r>
              <a:rPr dirty="0"/>
              <a:t> UI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Question input → call retrieval / LLM logic → display answer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38211" y="4765594"/>
            <a:ext cx="302953" cy="620222"/>
          </a:xfrm>
          <a:prstGeom prst="downArrow">
            <a:avLst/>
          </a:prstGeom>
          <a:solidFill>
            <a:srgbClr val="30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eft Arrow 12"/>
          <p:cNvSpPr/>
          <p:nvPr/>
        </p:nvSpPr>
        <p:spPr>
          <a:xfrm>
            <a:off x="7897091" y="5293036"/>
            <a:ext cx="1463040" cy="320040"/>
          </a:xfrm>
          <a:prstGeom prst="leftArrow">
            <a:avLst/>
          </a:prstGeom>
          <a:solidFill>
            <a:srgbClr val="30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3</a:t>
            </a:r>
          </a:p>
        </p:txBody>
      </p:sp>
      <p:pic>
        <p:nvPicPr>
          <p:cNvPr id="1026" name="Picture 2" descr="App">
            <a:extLst>
              <a:ext uri="{FF2B5EF4-FFF2-40B4-BE49-F238E27FC236}">
                <a16:creationId xmlns:a16="http://schemas.microsoft.com/office/drawing/2014/main" id="{970EF650-74A3-4E60-A329-3A3621823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422" y="1173787"/>
            <a:ext cx="8435396" cy="247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3.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From source documents to a user-facing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1. Upload PDFs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2. Extract text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Document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3. Split into chunks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Text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828800"/>
            <a:ext cx="2514600" cy="1051560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4. Index/search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Cortex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384048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5. Ask a question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4048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6. Retrieve context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Relevant passages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40480"/>
            <a:ext cx="2514600" cy="1051560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7. Generate answer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4048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8. Display response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7248" y="2194560"/>
            <a:ext cx="292607" cy="256032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5961888" y="2194560"/>
            <a:ext cx="292607" cy="256032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8796528" y="2194560"/>
            <a:ext cx="292607" cy="256032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9966960" y="2971800"/>
            <a:ext cx="320040" cy="594360"/>
          </a:xfrm>
          <a:prstGeom prst="down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eft Arrow 15"/>
          <p:cNvSpPr/>
          <p:nvPr/>
        </p:nvSpPr>
        <p:spPr>
          <a:xfrm>
            <a:off x="3127248" y="4206240"/>
            <a:ext cx="292607" cy="256032"/>
          </a:xfrm>
          <a:prstGeom prst="lef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eft Arrow 16"/>
          <p:cNvSpPr/>
          <p:nvPr/>
        </p:nvSpPr>
        <p:spPr>
          <a:xfrm>
            <a:off x="5961888" y="4206240"/>
            <a:ext cx="292607" cy="256032"/>
          </a:xfrm>
          <a:prstGeom prst="lef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 Arrow 17"/>
          <p:cNvSpPr/>
          <p:nvPr/>
        </p:nvSpPr>
        <p:spPr>
          <a:xfrm>
            <a:off x="8796528" y="4206240"/>
            <a:ext cx="292607" cy="256032"/>
          </a:xfrm>
          <a:prstGeom prst="lef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573"/>
                </a:solidFill>
                <a:latin typeface="Aptos"/>
              </a:defRPr>
            </a:pPr>
            <a:r>
              <a:t>At question time: user question → retrieve relevant chunks → provide context to the LLM → show the generated response.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4. Input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Leave Management project: employee leave and holiday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892040" cy="182880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Inputs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• Employee question (e.g., “How many leave days do I have left?”)</a:t>
            </a:r>
            <a:br/>
            <a:r>
              <a:t>• Employee identity / company email and role</a:t>
            </a:r>
            <a:br/>
            <a:r>
              <a:t>• Leave balance, leave history/status, and holiday data retrieved from Snowflake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45920"/>
            <a:ext cx="4892040" cy="1828800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Outputs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• Employee-specific leave balance and remaining days</a:t>
            </a:r>
            <a:br/>
            <a:r>
              <a:t>• Leave history with dates and approval status</a:t>
            </a:r>
            <a:br/>
            <a:r>
              <a:t>• Public holiday dates listed directly in the chat response (not as a file)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15000" y="2331720"/>
            <a:ext cx="731520" cy="411480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4069080"/>
            <a:ext cx="941832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Example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Question: “Show me my remaining leave balance and upcoming public holidays.”</a:t>
            </a:r>
            <a:br>
              <a:rPr dirty="0"/>
            </a:br>
            <a:r>
              <a:rPr dirty="0"/>
              <a:t>Answer: “Your leave balance and upcoming public holidays are listed below…” followed by the relevant details from the configured project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rPr dirty="0"/>
              <a:t>5. Evaluation /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Validation summary — sample Leave Management scenarios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Retrieval relevance: Tested sample questions and checked that relevant leave or holiday information is retrieved.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Answer correctness: Responses were checked against the configured project data.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Groundedness: Answers are based on retrieved information rather than unsupported guesses.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Response time: The application returned responses during the validation checks.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Coverage: Tested leave-balance and public-holiday questions; responses worked as expected for the configured scenarios.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10515600" cy="731520"/>
          </a:xfrm>
          <a:prstGeom prst="roundRect">
            <a:avLst/>
          </a:prstGeom>
          <a:solidFill>
            <a:srgbClr val="FFEFDA"/>
          </a:solidFill>
          <a:ln>
            <a:solidFill>
              <a:srgbClr val="FF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Validation outcome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Sample Leave Management questions have been tested, and the application is working as expected for the configured data and scenarios.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0B4E2-2AD9-C9AC-6650-A7BBB63F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C3551E-DB96-E1A7-876A-AED14CE38EC8}"/>
              </a:ext>
            </a:extLst>
          </p:cNvPr>
          <p:cNvSpPr txBox="1"/>
          <p:nvPr/>
        </p:nvSpPr>
        <p:spPr>
          <a:xfrm>
            <a:off x="594360" y="320040"/>
            <a:ext cx="38265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rPr lang="en-GB" dirty="0"/>
              <a:t>Input and output results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52182-92FE-BB8E-A8E8-5C513FD8E81A}"/>
              </a:ext>
            </a:extLst>
          </p:cNvPr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88C02-07AC-9C4E-5B39-2C13ADAAA2A2}"/>
              </a:ext>
            </a:extLst>
          </p:cNvPr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01DD49-DFEF-2D4D-8F17-265C8A4C1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64"/>
          <a:stretch>
            <a:fillRect/>
          </a:stretch>
        </p:blipFill>
        <p:spPr>
          <a:xfrm>
            <a:off x="277057" y="843260"/>
            <a:ext cx="5654530" cy="3357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825D86-89F2-3F00-F640-6DDB93B1E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952288"/>
            <a:ext cx="5753599" cy="3139712"/>
          </a:xfrm>
          <a:prstGeom prst="rect">
            <a:avLst/>
          </a:prstGeom>
        </p:spPr>
      </p:pic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CC95B62-235A-94AC-D3C2-938AB2C599F7}"/>
              </a:ext>
            </a:extLst>
          </p:cNvPr>
          <p:cNvSpPr/>
          <p:nvPr/>
        </p:nvSpPr>
        <p:spPr>
          <a:xfrm>
            <a:off x="119270" y="4640580"/>
            <a:ext cx="5526156" cy="117369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Example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Question: </a:t>
            </a:r>
            <a:r>
              <a:rPr lang="en-GB" dirty="0"/>
              <a:t>Requester with incorrect email address trying to access chatbot</a:t>
            </a:r>
            <a:br>
              <a:rPr dirty="0"/>
            </a:br>
            <a:r>
              <a:rPr dirty="0"/>
              <a:t>Answer: </a:t>
            </a:r>
            <a:r>
              <a:rPr lang="en-GB" dirty="0"/>
              <a:t>chatbot gives error that only employees of </a:t>
            </a:r>
            <a:r>
              <a:rPr lang="en-GB" dirty="0" err="1"/>
              <a:t>abc</a:t>
            </a:r>
            <a:r>
              <a:rPr lang="en-GB" dirty="0"/>
              <a:t> company can access</a:t>
            </a:r>
            <a:endParaRPr dirty="0"/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93D95C8A-656C-256D-9CF6-BA03597275AD}"/>
              </a:ext>
            </a:extLst>
          </p:cNvPr>
          <p:cNvSpPr/>
          <p:nvPr/>
        </p:nvSpPr>
        <p:spPr>
          <a:xfrm>
            <a:off x="5799716" y="4693436"/>
            <a:ext cx="5965069" cy="1041441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Example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lang="en-GB" dirty="0"/>
              <a:t>After employee successful logged in chat bot gives employee details like name, department and manager details. Additional we have added 5 models that user can select for querying their request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608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34CD7-B9A4-8F64-18C4-AC6A82FF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FB0CC4-6F2C-1E3C-2628-C67F2E7787CA}"/>
              </a:ext>
            </a:extLst>
          </p:cNvPr>
          <p:cNvSpPr txBox="1"/>
          <p:nvPr/>
        </p:nvSpPr>
        <p:spPr>
          <a:xfrm>
            <a:off x="198531" y="9018"/>
            <a:ext cx="4870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rPr lang="en-GB" dirty="0"/>
              <a:t>Input and output results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5010F6-BAF1-8CA1-F8FF-57D4FC875BE9}"/>
              </a:ext>
            </a:extLst>
          </p:cNvPr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349FE-D0EC-C889-D3F9-1564AEA9570F}"/>
              </a:ext>
            </a:extLst>
          </p:cNvPr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6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436A53B2-A4B2-801D-B274-A5DB7AA94DA0}"/>
              </a:ext>
            </a:extLst>
          </p:cNvPr>
          <p:cNvSpPr/>
          <p:nvPr/>
        </p:nvSpPr>
        <p:spPr>
          <a:xfrm>
            <a:off x="0" y="4853189"/>
            <a:ext cx="5526156" cy="117369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Example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Question: </a:t>
            </a:r>
            <a:r>
              <a:rPr lang="en-GB" dirty="0"/>
              <a:t>Employee can ask about their leave summary details and pending available leave details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DDDEF765-EE0B-91A8-AA41-554C1E1B4EEA}"/>
              </a:ext>
            </a:extLst>
          </p:cNvPr>
          <p:cNvSpPr/>
          <p:nvPr/>
        </p:nvSpPr>
        <p:spPr>
          <a:xfrm>
            <a:off x="5726200" y="5341497"/>
            <a:ext cx="5840960" cy="58124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Example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lang="en-GB" dirty="0"/>
              <a:t>Question: User can also request their public holidays details.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118D3-9D55-4924-AC7C-8D20E7591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020" y="452453"/>
            <a:ext cx="5665792" cy="45441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F61DB2-E42E-3548-8F85-36C8AE8A4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332" y="9018"/>
            <a:ext cx="5608806" cy="516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46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6. Inferences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What the design is intended to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Retrieval helps connect an LLM to organization-specific document content.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Chunking allows large documents to be searched in smaller, relevant sections.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Separating retrieval from generation makes the workflow easier to understand and evaluate.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Answer quality depends on document quality, chunking, search relevance, and prompt design.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The approach can be adapted to knowledge bases such as product manuals, FAQs, or policy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Cortex Search retrieves relevant passages; an LLM uses that context to generate natural-language answers.</a:t>
            </a:r>
          </a:p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The Streamlit interface lets users ask questions and view responses.</a:t>
            </a:r>
          </a:p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The Leave Management application supports configured leave-related questions and public-holiday queries, with access governed by the configured roles.</a:t>
            </a:r>
          </a:p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Validation completed: sample questions were tested, and the application is working as expected for the configured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</TotalTime>
  <Words>807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69868-Mummana Venkatesh</dc:creator>
  <cp:keywords/>
  <dc:description>generated using python-pptx</dc:description>
  <cp:lastModifiedBy>Eswar Sai Aravind</cp:lastModifiedBy>
  <cp:revision>4</cp:revision>
  <dcterms:created xsi:type="dcterms:W3CDTF">2013-01-27T09:14:16Z</dcterms:created>
  <dcterms:modified xsi:type="dcterms:W3CDTF">2026-10-21T09:04:49Z</dcterms:modified>
  <cp:category/>
</cp:coreProperties>
</file>