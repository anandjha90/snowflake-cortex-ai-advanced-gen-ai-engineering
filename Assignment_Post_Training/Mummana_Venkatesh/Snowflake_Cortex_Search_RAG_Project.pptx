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2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806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3021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812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1237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605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87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60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0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5234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036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077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997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4637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D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Snowflake Cortex Search</a:t>
            </a:r>
          </a:p>
          <a:p>
            <a:pPr>
              <a:spcBef>
                <a:spcPts val="1000"/>
              </a:spcBef>
              <a:defRPr sz="2300">
                <a:solidFill>
                  <a:srgbClr val="CDE1F5"/>
                </a:solidFill>
                <a:latin typeface="Aptos"/>
              </a:defRPr>
            </a:pPr>
            <a:r>
              <a:t>RAG-Based Document Question Answering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8145" y="3611881"/>
            <a:ext cx="71581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Project Overview  •  Architecture  •  Workflow  •  Evaluation  </a:t>
            </a:r>
          </a:p>
          <a:p>
            <a:pPr>
              <a:defRPr sz="1200">
                <a:solidFill>
                  <a:srgbClr val="CDE1F5"/>
                </a:solidFill>
                <a:latin typeface="Aptos"/>
              </a:defRPr>
            </a:pPr>
            <a:r>
              <a:rPr dirty="0"/>
              <a:t>
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31C672-BEC1-4CFF-8A87-98D68972B029}"/>
              </a:ext>
            </a:extLst>
          </p:cNvPr>
          <p:cNvSpPr txBox="1"/>
          <p:nvPr/>
        </p:nvSpPr>
        <p:spPr>
          <a:xfrm>
            <a:off x="5823526" y="4024170"/>
            <a:ext cx="60054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/>
              <a:t> </a:t>
            </a:r>
          </a:p>
          <a:p>
            <a:pPr>
              <a:defRPr sz="1200">
                <a:solidFill>
                  <a:srgbClr val="CDE1F5"/>
                </a:solidFill>
                <a:latin typeface="Aptos"/>
              </a:defRPr>
            </a:pPr>
            <a:r>
              <a:rPr sz="2000" dirty="0">
                <a:solidFill>
                  <a:schemeClr val="accent5">
                    <a:lumMod val="50000"/>
                  </a:schemeClr>
                </a:solidFill>
              </a:rPr>
              <a:t>
Presented by: Mummana Venkatesh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D4E"/>
                </a:solidFill>
                <a:latin typeface="Aptos Display"/>
              </a:defRPr>
            </a:pPr>
            <a:r>
              <a:t>1. Overall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07040" cy="448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Builds a question-answering assistant that uses information from a selected set of documents.</a:t>
            </a:r>
          </a:p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Uses Retrieval-Augmented Generation (RAG): retrieve relevant text first, then generate an answer using an LLM.</a:t>
            </a:r>
          </a:p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Snowflake stores and processes document text; Cortex Search retrieves relevant passages.</a:t>
            </a:r>
          </a:p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A language model uses the retrieved passages and user question to formulate a natural-language response.</a:t>
            </a:r>
          </a:p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Streamlit provides a simple interface for users to submit questions and view answers.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D4E"/>
                </a:solidFill>
                <a:latin typeface="Aptos Display"/>
              </a:defRPr>
            </a:pPr>
            <a:r>
              <a:t>2.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6573"/>
                </a:solidFill>
                <a:latin typeface="Aptos"/>
              </a:defRPr>
            </a:pPr>
            <a:r>
              <a:t>Main components and their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4860" y="3885529"/>
            <a:ext cx="2194560" cy="963167"/>
          </a:xfrm>
          <a:prstGeom prst="roundRect">
            <a:avLst/>
          </a:prstGeom>
          <a:solidFill>
            <a:srgbClr val="E1EEFA"/>
          </a:solidFill>
          <a:ln>
            <a:solidFill>
              <a:srgbClr val="E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Documents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dirty="0"/>
              <a:t>PDF manuals / knowledge files</a:t>
            </a:r>
            <a:br>
              <a:rPr dirty="0"/>
            </a:br>
            <a:r>
              <a:rPr dirty="0"/>
              <a:t>Input source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72467" y="3885529"/>
            <a:ext cx="2469342" cy="915741"/>
          </a:xfrm>
          <a:prstGeom prst="roundRect">
            <a:avLst/>
          </a:prstGeom>
          <a:solidFill>
            <a:srgbClr val="E1EEFA"/>
          </a:solidFill>
          <a:ln>
            <a:solidFill>
              <a:srgbClr val="E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Snowflake Stage + SQL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dirty="0"/>
              <a:t>Store files, extract text,</a:t>
            </a:r>
            <a:br>
              <a:rPr dirty="0"/>
            </a:br>
            <a:r>
              <a:rPr dirty="0"/>
              <a:t>prepare searchable chunks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6891" y="3839140"/>
            <a:ext cx="2228273" cy="926454"/>
          </a:xfrm>
          <a:prstGeom prst="roundRect">
            <a:avLst/>
          </a:prstGeom>
          <a:solidFill>
            <a:srgbClr val="DCF2EE"/>
          </a:solidFill>
          <a:ln>
            <a:solidFill>
              <a:srgbClr val="DC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Cortex Search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dirty="0"/>
              <a:t>Find relevant document</a:t>
            </a:r>
            <a:br>
              <a:rPr dirty="0"/>
            </a:br>
            <a:r>
              <a:rPr dirty="0"/>
              <a:t>passages for a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3839140"/>
            <a:ext cx="2441448" cy="915740"/>
          </a:xfrm>
          <a:prstGeom prst="roundRect">
            <a:avLst/>
          </a:prstGeom>
          <a:solidFill>
            <a:srgbClr val="FFEFDA"/>
          </a:solidFill>
          <a:ln>
            <a:solidFill>
              <a:srgbClr val="FF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LLM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dirty="0"/>
              <a:t>Use question + retrieved context</a:t>
            </a:r>
            <a:br>
              <a:rPr dirty="0"/>
            </a:br>
            <a:r>
              <a:rPr dirty="0"/>
              <a:t>to generate an answer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2628" y="4247388"/>
            <a:ext cx="771166" cy="329184"/>
          </a:xfrm>
          <a:prstGeom prst="righ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8"/>
          <p:cNvSpPr/>
          <p:nvPr/>
        </p:nvSpPr>
        <p:spPr>
          <a:xfrm>
            <a:off x="5755017" y="4247388"/>
            <a:ext cx="541874" cy="329184"/>
          </a:xfrm>
          <a:prstGeom prst="righ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8525164" y="4178808"/>
            <a:ext cx="600548" cy="329184"/>
          </a:xfrm>
          <a:prstGeom prst="righ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283964" y="4931848"/>
            <a:ext cx="3613127" cy="1005702"/>
          </a:xfrm>
          <a:prstGeom prst="roundRect">
            <a:avLst/>
          </a:prstGeom>
          <a:solidFill>
            <a:srgbClr val="F3F6F9"/>
          </a:solidFill>
          <a:ln>
            <a:solidFill>
              <a:srgbClr val="F3F6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 err="1"/>
              <a:t>Streamlit</a:t>
            </a:r>
            <a:r>
              <a:rPr dirty="0"/>
              <a:t> UI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dirty="0"/>
              <a:t>Question input → call retrieval / LLM logic → display answer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38211" y="4765594"/>
            <a:ext cx="302953" cy="620222"/>
          </a:xfrm>
          <a:prstGeom prst="downArrow">
            <a:avLst/>
          </a:prstGeom>
          <a:solidFill>
            <a:srgbClr val="3069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Left Arrow 12"/>
          <p:cNvSpPr/>
          <p:nvPr/>
        </p:nvSpPr>
        <p:spPr>
          <a:xfrm>
            <a:off x="7897091" y="5293036"/>
            <a:ext cx="1463040" cy="320040"/>
          </a:xfrm>
          <a:prstGeom prst="leftArrow">
            <a:avLst/>
          </a:prstGeom>
          <a:solidFill>
            <a:srgbClr val="3069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3</a:t>
            </a:r>
          </a:p>
        </p:txBody>
      </p:sp>
      <p:pic>
        <p:nvPicPr>
          <p:cNvPr id="1026" name="Picture 2" descr="App">
            <a:extLst>
              <a:ext uri="{FF2B5EF4-FFF2-40B4-BE49-F238E27FC236}">
                <a16:creationId xmlns:a16="http://schemas.microsoft.com/office/drawing/2014/main" id="{970EF650-74A3-4E60-A329-3A3621823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8422" y="1173787"/>
            <a:ext cx="8435396" cy="2470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D4E"/>
                </a:solidFill>
                <a:latin typeface="Aptos Display"/>
              </a:defRPr>
            </a:pPr>
            <a:r>
              <a:t>3. End-to-End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6573"/>
                </a:solidFill>
                <a:latin typeface="Aptos"/>
              </a:defRPr>
            </a:pPr>
            <a:r>
              <a:t>From source documents to a user-facing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2514600" cy="1051560"/>
          </a:xfrm>
          <a:prstGeom prst="roundRect">
            <a:avLst/>
          </a:prstGeom>
          <a:solidFill>
            <a:srgbClr val="E1EEFA"/>
          </a:solidFill>
          <a:ln>
            <a:solidFill>
              <a:srgbClr val="E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1. Upload PDFs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Stage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828800"/>
            <a:ext cx="2514600" cy="1051560"/>
          </a:xfrm>
          <a:prstGeom prst="roundRect">
            <a:avLst/>
          </a:prstGeom>
          <a:solidFill>
            <a:srgbClr val="E1EEFA"/>
          </a:solidFill>
          <a:ln>
            <a:solidFill>
              <a:srgbClr val="E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2. Extract text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Document parsing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2514600" cy="1051560"/>
          </a:xfrm>
          <a:prstGeom prst="roundRect">
            <a:avLst/>
          </a:prstGeom>
          <a:solidFill>
            <a:srgbClr val="E1EEFA"/>
          </a:solidFill>
          <a:ln>
            <a:solidFill>
              <a:srgbClr val="E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3. Split into chunks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Text 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828800"/>
            <a:ext cx="2514600" cy="1051560"/>
          </a:xfrm>
          <a:prstGeom prst="roundRect">
            <a:avLst/>
          </a:prstGeom>
          <a:solidFill>
            <a:srgbClr val="DCF2EE"/>
          </a:solidFill>
          <a:ln>
            <a:solidFill>
              <a:srgbClr val="DC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4. Index/search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Cortex 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3840480"/>
            <a:ext cx="2514600" cy="1051560"/>
          </a:xfrm>
          <a:prstGeom prst="roundRect">
            <a:avLst/>
          </a:prstGeom>
          <a:solidFill>
            <a:srgbClr val="E1EEFA"/>
          </a:solidFill>
          <a:ln>
            <a:solidFill>
              <a:srgbClr val="E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5. Ask a question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User input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840480"/>
            <a:ext cx="2514600" cy="1051560"/>
          </a:xfrm>
          <a:prstGeom prst="roundRect">
            <a:avLst/>
          </a:prstGeom>
          <a:solidFill>
            <a:srgbClr val="E1EEFA"/>
          </a:solidFill>
          <a:ln>
            <a:solidFill>
              <a:srgbClr val="E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6. Retrieve context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Relevant passages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840480"/>
            <a:ext cx="2514600" cy="1051560"/>
          </a:xfrm>
          <a:prstGeom prst="roundRect">
            <a:avLst/>
          </a:prstGeom>
          <a:solidFill>
            <a:srgbClr val="DCF2EE"/>
          </a:solidFill>
          <a:ln>
            <a:solidFill>
              <a:srgbClr val="DC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7. Generate answer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840480"/>
            <a:ext cx="2514600" cy="1051560"/>
          </a:xfrm>
          <a:prstGeom prst="roundRect">
            <a:avLst/>
          </a:prstGeom>
          <a:solidFill>
            <a:srgbClr val="E1EEFA"/>
          </a:solidFill>
          <a:ln>
            <a:solidFill>
              <a:srgbClr val="E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8. Display response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Streamlit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27248" y="2194560"/>
            <a:ext cx="292607" cy="256032"/>
          </a:xfrm>
          <a:prstGeom prst="righ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5961888" y="2194560"/>
            <a:ext cx="292607" cy="256032"/>
          </a:xfrm>
          <a:prstGeom prst="righ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8796528" y="2194560"/>
            <a:ext cx="292607" cy="256032"/>
          </a:xfrm>
          <a:prstGeom prst="righ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own Arrow 14"/>
          <p:cNvSpPr/>
          <p:nvPr/>
        </p:nvSpPr>
        <p:spPr>
          <a:xfrm>
            <a:off x="9966960" y="2971800"/>
            <a:ext cx="320040" cy="594360"/>
          </a:xfrm>
          <a:prstGeom prst="down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eft Arrow 15"/>
          <p:cNvSpPr/>
          <p:nvPr/>
        </p:nvSpPr>
        <p:spPr>
          <a:xfrm>
            <a:off x="3127248" y="4206240"/>
            <a:ext cx="292607" cy="256032"/>
          </a:xfrm>
          <a:prstGeom prst="lef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eft Arrow 16"/>
          <p:cNvSpPr/>
          <p:nvPr/>
        </p:nvSpPr>
        <p:spPr>
          <a:xfrm>
            <a:off x="5961888" y="4206240"/>
            <a:ext cx="292607" cy="256032"/>
          </a:xfrm>
          <a:prstGeom prst="lef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Left Arrow 17"/>
          <p:cNvSpPr/>
          <p:nvPr/>
        </p:nvSpPr>
        <p:spPr>
          <a:xfrm>
            <a:off x="8796528" y="4206240"/>
            <a:ext cx="292607" cy="256032"/>
          </a:xfrm>
          <a:prstGeom prst="lef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4864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573"/>
                </a:solidFill>
                <a:latin typeface="Aptos"/>
              </a:defRPr>
            </a:pPr>
            <a:r>
              <a:t>At question time: user question → retrieve relevant chunks → provide context to the LLM → show the generated response.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D4E"/>
                </a:solidFill>
                <a:latin typeface="Aptos Display"/>
              </a:defRPr>
            </a:pPr>
            <a:r>
              <a:t>4. Input and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6573"/>
                </a:solidFill>
                <a:latin typeface="Aptos"/>
              </a:defRPr>
            </a:pPr>
            <a:r>
              <a:t>Leave Management project: employee leave and holiday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4892040" cy="1828800"/>
          </a:xfrm>
          <a:prstGeom prst="roundRect">
            <a:avLst/>
          </a:prstGeom>
          <a:solidFill>
            <a:srgbClr val="E1EEFA"/>
          </a:solidFill>
          <a:ln>
            <a:solidFill>
              <a:srgbClr val="E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Inputs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• Employee question (e.g., “How many leave days do I have left?”)</a:t>
            </a:r>
            <a:br/>
            <a:r>
              <a:t>• Employee identity / company email and role</a:t>
            </a:r>
            <a:br/>
            <a:r>
              <a:t>• Leave balance, leave history/status, and holiday data retrieved from Snowflake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645920"/>
            <a:ext cx="4892040" cy="1828800"/>
          </a:xfrm>
          <a:prstGeom prst="roundRect">
            <a:avLst/>
          </a:prstGeom>
          <a:solidFill>
            <a:srgbClr val="DCF2EE"/>
          </a:solidFill>
          <a:ln>
            <a:solidFill>
              <a:srgbClr val="DC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t>Outputs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t>• Employee-specific leave balance and remaining days</a:t>
            </a:r>
            <a:br/>
            <a:r>
              <a:t>• Leave history with dates and approval status</a:t>
            </a:r>
            <a:br/>
            <a:r>
              <a:t>• Public holiday dates listed directly in the chat response (not as a file)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15000" y="2331720"/>
            <a:ext cx="731520" cy="411480"/>
          </a:xfrm>
          <a:prstGeom prst="rightArrow">
            <a:avLst/>
          </a:prstGeom>
          <a:solidFill>
            <a:srgbClr val="1B8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371600" y="4069080"/>
            <a:ext cx="9418320" cy="1143000"/>
          </a:xfrm>
          <a:prstGeom prst="roundRect">
            <a:avLst/>
          </a:prstGeom>
          <a:solidFill>
            <a:srgbClr val="F3F6F9"/>
          </a:solidFill>
          <a:ln>
            <a:solidFill>
              <a:srgbClr val="F3F6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Example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dirty="0"/>
              <a:t>Question: “Show me my remaining leave balance and upcoming public holidays.”</a:t>
            </a:r>
            <a:br>
              <a:rPr dirty="0"/>
            </a:br>
            <a:r>
              <a:rPr dirty="0"/>
              <a:t>Answer: “Your leave balance and upcoming public holidays are listed below…” followed by the relevant details from the configured project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D4E"/>
                </a:solidFill>
                <a:latin typeface="Aptos Display"/>
              </a:defRPr>
            </a:pPr>
            <a:r>
              <a:rPr dirty="0"/>
              <a:t>5. Evaluation /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6573"/>
                </a:solidFill>
                <a:latin typeface="Aptos"/>
              </a:defRPr>
            </a:pPr>
            <a:r>
              <a:t>Validation summary — sample Leave Management scenarios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07040" cy="448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142D4E"/>
                </a:solidFill>
                <a:latin typeface="Aptos"/>
              </a:defRPr>
            </a:pPr>
            <a:r>
              <a:t>Retrieval relevance: Tested sample questions and checked that relevant leave or holiday information is retrieved.</a:t>
            </a:r>
          </a:p>
          <a:p>
            <a:pPr>
              <a:spcAft>
                <a:spcPts val="1300"/>
              </a:spcAft>
              <a:defRPr sz="1800">
                <a:solidFill>
                  <a:srgbClr val="142D4E"/>
                </a:solidFill>
                <a:latin typeface="Aptos"/>
              </a:defRPr>
            </a:pPr>
            <a:r>
              <a:t>Answer correctness: Responses were checked against the configured project data.</a:t>
            </a:r>
          </a:p>
          <a:p>
            <a:pPr>
              <a:spcAft>
                <a:spcPts val="1300"/>
              </a:spcAft>
              <a:defRPr sz="1800">
                <a:solidFill>
                  <a:srgbClr val="142D4E"/>
                </a:solidFill>
                <a:latin typeface="Aptos"/>
              </a:defRPr>
            </a:pPr>
            <a:r>
              <a:t>Groundedness: Answers are based on retrieved information rather than unsupported guesses.</a:t>
            </a:r>
          </a:p>
          <a:p>
            <a:pPr>
              <a:spcAft>
                <a:spcPts val="1300"/>
              </a:spcAft>
              <a:defRPr sz="1800">
                <a:solidFill>
                  <a:srgbClr val="142D4E"/>
                </a:solidFill>
                <a:latin typeface="Aptos"/>
              </a:defRPr>
            </a:pPr>
            <a:r>
              <a:t>Response time: The application returned responses during the validation checks.</a:t>
            </a:r>
          </a:p>
          <a:p>
            <a:pPr>
              <a:spcAft>
                <a:spcPts val="1300"/>
              </a:spcAft>
              <a:defRPr sz="1800">
                <a:solidFill>
                  <a:srgbClr val="142D4E"/>
                </a:solidFill>
                <a:latin typeface="Aptos"/>
              </a:defRPr>
            </a:pPr>
            <a:r>
              <a:t>Coverage: Tested leave-balance and public-holiday questions; responses worked as expected for the configured scenarios.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074920"/>
            <a:ext cx="10515600" cy="731520"/>
          </a:xfrm>
          <a:prstGeom prst="roundRect">
            <a:avLst/>
          </a:prstGeom>
          <a:solidFill>
            <a:srgbClr val="FFEFDA"/>
          </a:solidFill>
          <a:ln>
            <a:solidFill>
              <a:srgbClr val="FF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Validation outcome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dirty="0"/>
              <a:t>Sample Leave Management questions have been tested, and the application is working as expected for the configured data and scenarios. 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0B4E2-2AD9-C9AC-6650-A7BBB63FC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C3551E-DB96-E1A7-876A-AED14CE38EC8}"/>
              </a:ext>
            </a:extLst>
          </p:cNvPr>
          <p:cNvSpPr txBox="1"/>
          <p:nvPr/>
        </p:nvSpPr>
        <p:spPr>
          <a:xfrm>
            <a:off x="594360" y="320040"/>
            <a:ext cx="38265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D4E"/>
                </a:solidFill>
                <a:latin typeface="Aptos Display"/>
              </a:defRPr>
            </a:pPr>
            <a:r>
              <a:rPr lang="en-GB" dirty="0"/>
              <a:t>Input and output results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F52182-92FE-BB8E-A8E8-5C513FD8E81A}"/>
              </a:ext>
            </a:extLst>
          </p:cNvPr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788C02-07AC-9C4E-5B39-2C13ADAAA2A2}"/>
              </a:ext>
            </a:extLst>
          </p:cNvPr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01DD49-DFEF-2D4D-8F17-265C8A4C1A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64"/>
          <a:stretch>
            <a:fillRect/>
          </a:stretch>
        </p:blipFill>
        <p:spPr>
          <a:xfrm>
            <a:off x="277057" y="843260"/>
            <a:ext cx="5654530" cy="33577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A825D86-89F2-3F00-F640-6DDB93B1E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952288"/>
            <a:ext cx="5753599" cy="3139712"/>
          </a:xfrm>
          <a:prstGeom prst="rect">
            <a:avLst/>
          </a:prstGeom>
        </p:spPr>
      </p:pic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0CC95B62-235A-94AC-D3C2-938AB2C599F7}"/>
              </a:ext>
            </a:extLst>
          </p:cNvPr>
          <p:cNvSpPr/>
          <p:nvPr/>
        </p:nvSpPr>
        <p:spPr>
          <a:xfrm>
            <a:off x="119270" y="4640580"/>
            <a:ext cx="5526156" cy="1173692"/>
          </a:xfrm>
          <a:prstGeom prst="roundRect">
            <a:avLst/>
          </a:prstGeom>
          <a:solidFill>
            <a:srgbClr val="F3F6F9"/>
          </a:solidFill>
          <a:ln>
            <a:solidFill>
              <a:srgbClr val="F3F6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Example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dirty="0"/>
              <a:t>Question: </a:t>
            </a:r>
            <a:r>
              <a:rPr lang="en-GB" dirty="0"/>
              <a:t>Requester with incorrect email address trying to access chatbot</a:t>
            </a:r>
            <a:br>
              <a:rPr dirty="0"/>
            </a:br>
            <a:r>
              <a:rPr dirty="0"/>
              <a:t>Answer: </a:t>
            </a:r>
            <a:r>
              <a:rPr lang="en-GB" dirty="0"/>
              <a:t>chatbot gives error that only employees of </a:t>
            </a:r>
            <a:r>
              <a:rPr lang="en-GB" dirty="0" err="1"/>
              <a:t>abc</a:t>
            </a:r>
            <a:r>
              <a:rPr lang="en-GB" dirty="0"/>
              <a:t> company can access</a:t>
            </a:r>
            <a:endParaRPr dirty="0"/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93D95C8A-656C-256D-9CF6-BA03597275AD}"/>
              </a:ext>
            </a:extLst>
          </p:cNvPr>
          <p:cNvSpPr/>
          <p:nvPr/>
        </p:nvSpPr>
        <p:spPr>
          <a:xfrm>
            <a:off x="5799716" y="4693436"/>
            <a:ext cx="5965069" cy="1041441"/>
          </a:xfrm>
          <a:prstGeom prst="roundRect">
            <a:avLst/>
          </a:prstGeom>
          <a:solidFill>
            <a:srgbClr val="F3F6F9"/>
          </a:solidFill>
          <a:ln>
            <a:solidFill>
              <a:srgbClr val="F3F6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Example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lang="en-GB" dirty="0"/>
              <a:t>After employee successful logged in chat bot gives employee details like name, department and manager details. Additional we have added 5 models that user can select for querying their request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6084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34CD7-B9A4-8F64-18C4-AC6A82FF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FB0CC4-6F2C-1E3C-2628-C67F2E7787CA}"/>
              </a:ext>
            </a:extLst>
          </p:cNvPr>
          <p:cNvSpPr txBox="1"/>
          <p:nvPr/>
        </p:nvSpPr>
        <p:spPr>
          <a:xfrm>
            <a:off x="198531" y="9018"/>
            <a:ext cx="48704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D4E"/>
                </a:solidFill>
                <a:latin typeface="Aptos Display"/>
              </a:defRPr>
            </a:pPr>
            <a:r>
              <a:rPr lang="en-GB" dirty="0"/>
              <a:t>Input and output results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5010F6-BAF1-8CA1-F8FF-57D4FC875BE9}"/>
              </a:ext>
            </a:extLst>
          </p:cNvPr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E349FE-D0EC-C889-D3F9-1564AEA9570F}"/>
              </a:ext>
            </a:extLst>
          </p:cNvPr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6</a:t>
            </a:r>
          </a:p>
        </p:txBody>
      </p:sp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436A53B2-A4B2-801D-B274-A5DB7AA94DA0}"/>
              </a:ext>
            </a:extLst>
          </p:cNvPr>
          <p:cNvSpPr/>
          <p:nvPr/>
        </p:nvSpPr>
        <p:spPr>
          <a:xfrm>
            <a:off x="0" y="4853189"/>
            <a:ext cx="5526156" cy="1173692"/>
          </a:xfrm>
          <a:prstGeom prst="roundRect">
            <a:avLst/>
          </a:prstGeom>
          <a:solidFill>
            <a:srgbClr val="F3F6F9"/>
          </a:solidFill>
          <a:ln>
            <a:solidFill>
              <a:srgbClr val="F3F6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Example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dirty="0"/>
              <a:t>Question: </a:t>
            </a:r>
            <a:r>
              <a:rPr lang="en-GB" dirty="0"/>
              <a:t>Employee can ask about their leave summary details and pending available leave details</a:t>
            </a: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DDDEF765-EE0B-91A8-AA41-554C1E1B4EEA}"/>
              </a:ext>
            </a:extLst>
          </p:cNvPr>
          <p:cNvSpPr/>
          <p:nvPr/>
        </p:nvSpPr>
        <p:spPr>
          <a:xfrm>
            <a:off x="5726200" y="5341497"/>
            <a:ext cx="5840960" cy="581240"/>
          </a:xfrm>
          <a:prstGeom prst="roundRect">
            <a:avLst/>
          </a:prstGeom>
          <a:solidFill>
            <a:srgbClr val="F3F6F9"/>
          </a:solidFill>
          <a:ln>
            <a:solidFill>
              <a:srgbClr val="F3F6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109728" rIns="146304" bIns="73152" rtlCol="0" anchor="ctr"/>
          <a:lstStyle/>
          <a:p>
            <a:pPr algn="ctr">
              <a:spcAft>
                <a:spcPts val="600"/>
              </a:spcAft>
              <a:defRPr sz="1700" b="1">
                <a:solidFill>
                  <a:srgbClr val="142D4E"/>
                </a:solidFill>
                <a:latin typeface="Aptos"/>
              </a:defRPr>
            </a:pPr>
            <a:r>
              <a:rPr dirty="0"/>
              <a:t>Example</a:t>
            </a:r>
          </a:p>
          <a:p>
            <a:pPr>
              <a:defRPr sz="1200">
                <a:solidFill>
                  <a:srgbClr val="142D4E"/>
                </a:solidFill>
                <a:latin typeface="Aptos"/>
              </a:defRPr>
            </a:pPr>
            <a:r>
              <a:rPr lang="en-GB" dirty="0"/>
              <a:t>Question: User can also request their public holidays details.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3118D3-9D55-4924-AC7C-8D20E7591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5020" y="452453"/>
            <a:ext cx="5665792" cy="45441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F61DB2-E42E-3548-8F85-36C8AE8A4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332" y="9018"/>
            <a:ext cx="5608806" cy="516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146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D4E"/>
                </a:solidFill>
                <a:latin typeface="Aptos Display"/>
              </a:defRPr>
            </a:pPr>
            <a:r>
              <a:t>6. Inferences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6573"/>
                </a:solidFill>
                <a:latin typeface="Aptos"/>
              </a:defRPr>
            </a:pPr>
            <a:r>
              <a:t>What the design is intended to demonstrate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07040" cy="448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Retrieval helps connect an LLM to organization-specific document content.</a:t>
            </a:r>
          </a:p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Chunking allows large documents to be searched in smaller, relevant sections.</a:t>
            </a:r>
          </a:p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Separating retrieval from generation makes the workflow easier to understand and evaluate.</a:t>
            </a:r>
          </a:p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Answer quality depends on document quality, chunking, search relevance, and prompt design.</a:t>
            </a:r>
          </a:p>
          <a:p>
            <a:pPr>
              <a:spcAft>
                <a:spcPts val="1300"/>
              </a:spcAft>
              <a:defRPr sz="1900">
                <a:solidFill>
                  <a:srgbClr val="142D4E"/>
                </a:solidFill>
                <a:latin typeface="Aptos"/>
              </a:defRPr>
            </a:pPr>
            <a:r>
              <a:t>The approach can be adapted to knowledge bases such as product manuals, FAQs, or policy documents.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D4E"/>
                </a:solidFill>
                <a:latin typeface="Aptos Display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6573"/>
                </a:solidFill>
                <a:latin typeface="Aptos"/>
              </a:defRPr>
            </a:pPr>
            <a: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07040" cy="448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142D4E"/>
                </a:solidFill>
                <a:latin typeface="Aptos"/>
              </a:defRPr>
            </a:pPr>
            <a:r>
              <a:t>Cortex Search retrieves relevant passages; an LLM uses that context to generate natural-language answers.</a:t>
            </a:r>
          </a:p>
          <a:p>
            <a:pPr>
              <a:spcAft>
                <a:spcPts val="1300"/>
              </a:spcAft>
              <a:defRPr sz="2000">
                <a:solidFill>
                  <a:srgbClr val="142D4E"/>
                </a:solidFill>
                <a:latin typeface="Aptos"/>
              </a:defRPr>
            </a:pPr>
            <a:r>
              <a:t>The Streamlit interface lets users ask questions and view responses.</a:t>
            </a:r>
          </a:p>
          <a:p>
            <a:pPr>
              <a:spcAft>
                <a:spcPts val="1300"/>
              </a:spcAft>
              <a:defRPr sz="2000">
                <a:solidFill>
                  <a:srgbClr val="142D4E"/>
                </a:solidFill>
                <a:latin typeface="Aptos"/>
              </a:defRPr>
            </a:pPr>
            <a:r>
              <a:t>The Leave Management application supports configured leave-related questions and public-holiday queries, with access governed by the configured roles.</a:t>
            </a:r>
          </a:p>
          <a:p>
            <a:pPr>
              <a:spcAft>
                <a:spcPts val="1300"/>
              </a:spcAft>
              <a:defRPr sz="2000">
                <a:solidFill>
                  <a:srgbClr val="142D4E"/>
                </a:solidFill>
                <a:latin typeface="Aptos"/>
              </a:defRPr>
            </a:pPr>
            <a:r>
              <a:t>Validation completed: sample questions were tested, and the application is working as expected for the configured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A6573"/>
                </a:solidFill>
                <a:latin typeface="Aptos"/>
              </a:defRPr>
            </a:pPr>
            <a:r>
              <a:t>Snowflake Cortex Search RAG Application  |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23</TotalTime>
  <Words>807</Words>
  <Application>Microsoft Office PowerPoint</Application>
  <PresentationFormat>Widescreen</PresentationFormat>
  <Paragraphs>93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Gill Sans MT</vt:lpstr>
      <vt:lpstr>Gallery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69868-Mummana Venkatesh</dc:creator>
  <cp:keywords/>
  <dc:description>generated using python-pptx</dc:description>
  <cp:lastModifiedBy>Eswar Sai Aravind</cp:lastModifiedBy>
  <cp:revision>4</cp:revision>
  <dcterms:created xsi:type="dcterms:W3CDTF">2013-01-27T09:14:16Z</dcterms:created>
  <dcterms:modified xsi:type="dcterms:W3CDTF">2026-10-21T09:01:54Z</dcterms:modified>
  <cp:category/>
</cp:coreProperties>
</file>