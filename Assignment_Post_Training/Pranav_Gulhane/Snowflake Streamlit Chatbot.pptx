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Inter"/>
      <ns0:bold ns1:id="rIdFont15"/>
      <ns0:regular ns1:id="rIdFont16"/>
    </ns0:embeddedFont>
    <ns0:embeddedFont>
      <ns0:font typeface="JetBrains Mono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fce1b182-4e07-49b8-8991-1178b705612d.fntdata" /><ns0:Relationship Id="rIdFont16" Type="http://schemas.openxmlformats.org/officeDocument/2006/relationships/font" Target="fonts/7bb35211-c01c-4e4e-ae6d-d95556f55477.fntdata" /><ns0:Relationship Id="rIdFont17" Type="http://schemas.openxmlformats.org/officeDocument/2006/relationships/font" Target="fonts/30690481-5680-4fd4-a260-db82a118226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911923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07827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ARCHITECTURE &amp; CODE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50727"/>
            <a:ext cx="8601075" cy="17086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Building a File-Reading AI Chatbot with Streamlit in 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149923"/>
            <a:ext cx="69532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Native Retrieval-Augmented Generation (RAG) powered by Snowflake Cortex &amp; Streamlit.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86062"/>
            <a:ext cx="257175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786062"/>
            <a:ext cx="257175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86062"/>
            <a:ext cx="257175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786062"/>
            <a:ext cx="2571750" cy="1962150"/>
          </a:xfrm>
          <a:prstGeom prst="roundRect">
            <a:avLst>
              <a:gd name="adj" fmla="val 58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00387"/>
            <a:ext cx="238125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3100387"/>
            <a:ext cx="266700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100387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3100387"/>
            <a:ext cx="33337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System Architecture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519487"/>
            <a:ext cx="25503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1. Snowflake 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824287"/>
            <a:ext cx="2038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Structured storage for text chunks and document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4275" y="3519487"/>
            <a:ext cx="25503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2. Cortex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75" y="3824287"/>
            <a:ext cx="2038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Vector indexing and hybrid semantic retrieval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519487"/>
            <a:ext cx="214026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3. Cortex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052887"/>
            <a:ext cx="2038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In-database LLM execution for context synthesis.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4975" y="3519487"/>
            <a:ext cx="255031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4. Streamlit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975" y="3824287"/>
            <a:ext cx="2038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Interactive web interface hosted natively in Snowsight.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19437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19437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19437"/>
            <a:ext cx="3505200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Why Build RAG Natively in Snowflake?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4237"/>
            <a:ext cx="3800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Zero Data Exfiltration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29037"/>
            <a:ext cx="2990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Sensitive enterprise documents never leave Snowflake security boundary.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424237"/>
            <a:ext cx="3800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No API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729037"/>
            <a:ext cx="2990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Direct model access via SQL standard functions without external keys.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0" y="3424237"/>
            <a:ext cx="38004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Elastic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0" y="3729037"/>
            <a:ext cx="29908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Leverages Snowflake virtual warehouses for computational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243137"/>
            <a:ext cx="6026794" cy="2895600"/>
          </a:xfrm>
          <a:prstGeom prst="roundRect">
            <a:avLst>
              <a:gd name="adj" fmla="val 39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Step 1: Data &amp; Search Service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205" y="2471737"/>
            <a:ext cx="5664844" cy="243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3F5E"/>
                </a:solidFill>
                <a:latin typeface="JetBrains Mono"/>
              </a:rPr>
              <a:t>-- Create Data Table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F1F5F9"/>
                </a:solidFill>
                <a:latin typeface="JetBrains Mono"/>
              </a:rPr>
              <a:t>CREATE TABLE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DOCUMENTS_TABLE ( file_name </a:t>
            </a:r>
            <a:r>
              <a:rPr b="0" sz="1050" i="0" u="none">
                <a:solidFill>
                  <a:srgbClr val="F1F5F9"/>
                </a:solidFill>
                <a:latin typeface="JetBrains Mono"/>
              </a:rPr>
              <a:t>VARCHAR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, file_content </a:t>
            </a:r>
            <a:r>
              <a:rPr b="0" sz="1050" i="0" u="none">
                <a:solidFill>
                  <a:srgbClr val="F1F5F9"/>
                </a:solidFill>
                <a:latin typeface="JetBrains Mono"/>
              </a:rPr>
              <a:t>VARCHAR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);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-- Create Search Service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F1F5F9"/>
                </a:solidFill>
                <a:latin typeface="JetBrains Mono"/>
              </a:rPr>
              <a:t>CREATE CORTEX SEARCH SERVICE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my_file_search_service </a:t>
            </a:r>
            <a:r>
              <a:rPr b="0" sz="1050" i="0" u="none">
                <a:solidFill>
                  <a:srgbClr val="F1F5F9"/>
                </a:solidFill>
                <a:latin typeface="JetBrains Mono"/>
              </a:rPr>
              <a:t>ON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file_content </a:t>
            </a:r>
            <a:r>
              <a:rPr b="0" sz="1050" i="0" u="none">
                <a:solidFill>
                  <a:srgbClr val="F1F5F9"/>
                </a:solidFill>
                <a:latin typeface="JetBrains Mono"/>
              </a:rPr>
              <a:t>WAREHOUSE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= my_wh </a:t>
            </a:r>
            <a:r>
              <a:rPr b="0" sz="1050" i="0" u="none">
                <a:solidFill>
                  <a:srgbClr val="F1F5F9"/>
                </a:solidFill>
                <a:latin typeface="JetBrains Mono"/>
              </a:rPr>
              <a:t>TARGET_LAG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= </a:t>
            </a:r>
            <a:r>
              <a:rPr b="0" sz="1050" i="0" u="none">
                <a:solidFill>
                  <a:srgbClr val="A855F7"/>
                </a:solidFill>
                <a:latin typeface="JetBrains Mono"/>
              </a:rPr>
              <a:t>'1 hour'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F1F5F9"/>
                </a:solidFill>
                <a:latin typeface="JetBrains Mono"/>
              </a:rPr>
              <a:t>AS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( </a:t>
            </a:r>
            <a:r>
              <a:rPr b="0" sz="1050" i="0" u="none">
                <a:solidFill>
                  <a:srgbClr val="F1F5F9"/>
                </a:solidFill>
                <a:latin typeface="JetBrains Mono"/>
              </a:rPr>
              <a:t>SELECT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file_name, file_content </a:t>
            </a:r>
            <a:r>
              <a:rPr b="0" sz="1050" i="0" u="none">
                <a:solidFill>
                  <a:srgbClr val="F1F5F9"/>
                </a:solidFill>
                <a:latin typeface="JetBrains Mono"/>
              </a:rPr>
              <a:t>FROM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DOCUMENTS_TABLE 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4205" y="2471737"/>
            <a:ext cx="5664844" cy="243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3F5E"/>
                </a:solidFill>
                <a:latin typeface="monospace"/>
              </a:rPr>
              <a:t>-- Create Data Table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CREATE TABLE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DOCUMENTS_TABLE ( file_name 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VARCHAR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, file_content 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VARCHAR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);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-- Create Search Service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CREATE CORTEX SEARCH SERVICE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my_file_search_service 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ON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file_content 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WAREHOUSE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= my_wh 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TARGET_LAG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= </a:t>
            </a:r>
            <a:r>
              <a:rPr b="0" sz="1050" i="0" u="none">
                <a:solidFill>
                  <a:srgbClr val="A855F7"/>
                </a:solidFill>
                <a:latin typeface="monospace"/>
              </a:rPr>
              <a:t>'1 hour'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AS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( 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SELECT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file_name, file_content 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FROM</a:t>
            </a:r>
            <a:r>
              <a:rPr b="0" sz="1050" i="0" u="none">
                <a:solidFill>
                  <a:srgbClr val="38BDF8"/>
                </a:solidFill>
                <a:latin typeface="monospace"/>
              </a:rPr>
              <a:t> DOCUMENTS_TABLE 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090862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Source Table: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Stores extracted text chunks and source file metadata.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90912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Cortex Search Service: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Automatically indexes text for fast vector and keyword retrieval.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890962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Target Lag: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Controls automatic background sync frequency.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471737"/>
            <a:ext cx="6026794" cy="2438400"/>
          </a:xfrm>
          <a:prstGeom prst="roundRect">
            <a:avLst>
              <a:gd name="adj" fmla="val 468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Step 2: Streamlit UI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205" y="2700337"/>
            <a:ext cx="5664844" cy="198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3F5E"/>
                </a:solidFill>
                <a:latin typeface="JetBrains Mono"/>
              </a:rPr>
              <a:t>import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streamlit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as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st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from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snowflake.snowpark.context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import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get_active_session session = get_active_session()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with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st.sidebar: selected_model = st.selectbox( </a:t>
            </a:r>
            <a:r>
              <a:rPr b="0" sz="1050" i="0" u="none">
                <a:solidFill>
                  <a:srgbClr val="A855F7"/>
                </a:solidFill>
                <a:latin typeface="JetBrains Mono"/>
              </a:rPr>
              <a:t>"Choose Model"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, [</a:t>
            </a:r>
            <a:r>
              <a:rPr b="0" sz="1050" i="0" u="none">
                <a:solidFill>
                  <a:srgbClr val="A855F7"/>
                </a:solidFill>
                <a:latin typeface="JetBrains Mono"/>
              </a:rPr>
              <a:t>"claude-3-5-sonnet"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, </a:t>
            </a:r>
            <a:r>
              <a:rPr b="0" sz="1050" i="0" u="none">
                <a:solidFill>
                  <a:srgbClr val="A855F7"/>
                </a:solidFill>
                <a:latin typeface="JetBrains Mono"/>
              </a:rPr>
              <a:t>"llama3-70b-instruct"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] )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if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A855F7"/>
                </a:solidFill>
                <a:latin typeface="JetBrains Mono"/>
              </a:rPr>
              <a:t>"messages"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not in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st.session_state: st.session_state.messages = []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938462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Active Session: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Establishes native session context without credentials.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90912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Model Selection: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Interactive choice between Claude 3.5 Sonnet, Mistral, and Llama 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043362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State Handling: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Retains conversation history across UI refreshes.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4205" y="2700337"/>
            <a:ext cx="5664844" cy="198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3F5E"/>
                </a:solidFill>
                <a:latin typeface="monospace"/>
              </a:rPr>
              <a:t>import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streamlit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as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st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from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snowflake.snowpark.context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import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get_active_session session = get_active_session()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with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st.sidebar: selected_model = st.selectbox( </a:t>
            </a:r>
            <a:r>
              <a:rPr b="0" sz="1050" i="0" u="none">
                <a:solidFill>
                  <a:srgbClr val="A855F7"/>
                </a:solidFill>
                <a:latin typeface="monospace"/>
              </a:rPr>
              <a:t>"Choose Model"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, [</a:t>
            </a:r>
            <a:r>
              <a:rPr b="0" sz="1050" i="0" u="none">
                <a:solidFill>
                  <a:srgbClr val="A855F7"/>
                </a:solidFill>
                <a:latin typeface="monospace"/>
              </a:rPr>
              <a:t>"claude-3-5-sonnet"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, </a:t>
            </a:r>
            <a:r>
              <a:rPr b="0" sz="1050" i="0" u="none">
                <a:solidFill>
                  <a:srgbClr val="A855F7"/>
                </a:solidFill>
                <a:latin typeface="monospace"/>
              </a:rPr>
              <a:t>"llama3-70b-instruct"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] )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if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</a:t>
            </a:r>
            <a:r>
              <a:rPr b="0" sz="1050" i="0" u="none">
                <a:solidFill>
                  <a:srgbClr val="A855F7"/>
                </a:solidFill>
                <a:latin typeface="monospace"/>
              </a:rPr>
              <a:t>"messages"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not in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st.session_state: st.session_state.messages =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247900"/>
            <a:ext cx="6026794" cy="2886075"/>
          </a:xfrm>
          <a:prstGeom prst="roundRect">
            <a:avLst>
              <a:gd name="adj" fmla="val 396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Step 3: Unified RAG Search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205" y="2476500"/>
            <a:ext cx="5664844" cy="2428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A855F7"/>
                </a:solidFill>
                <a:latin typeface="JetBrains Mono"/>
              </a:rPr>
              <a:t>escaped_prompt = prompt.replace(</a:t>
            </a:r>
            <a:r>
              <a:rPr b="0" sz="975" i="0" u="none">
                <a:solidFill>
                  <a:srgbClr val="A855F7"/>
                </a:solidFill>
                <a:latin typeface="JetBrains Mono"/>
              </a:rPr>
              <a:t>"'"</a:t>
            </a:r>
            <a:r>
              <a:rPr b="0" sz="975" i="0" u="none">
                <a:solidFill>
                  <a:srgbClr val="A855F7"/>
                </a:solidFill>
                <a:latin typeface="JetBrains Mono"/>
              </a:rPr>
              <a:t>, </a:t>
            </a:r>
            <a:r>
              <a:rPr b="0" sz="975" i="0" u="none">
                <a:solidFill>
                  <a:srgbClr val="A855F7"/>
                </a:solidFill>
                <a:latin typeface="JetBrains Mono"/>
              </a:rPr>
              <a:t>"''"</a:t>
            </a:r>
            <a:r>
              <a:rPr b="0" sz="975" i="0" u="none">
                <a:solidFill>
                  <a:srgbClr val="A855F7"/>
                </a:solidFill>
                <a:latin typeface="JetBrains Mono"/>
              </a:rPr>
              <a:t>) cortex_query = </a:t>
            </a:r>
            <a:r>
              <a:rPr b="0" sz="975" i="0" u="none">
                <a:solidFill>
                  <a:srgbClr val="A855F7"/>
                </a:solidFill>
                <a:latin typeface="JetBrains Mono"/>
              </a:rPr>
              <a:t>f""" SELECT SNOWFLAKE.CORTEX.COMPLETE( '{selected_model}', CONCAT( 'Answer based ONLY on context:\\n', (SELECT TO_VARCHAR( SNOWFLAKE.CORTEX.SEARCH_PREVIEW( 'my_file_search_service', '{escaped_prompt}' ) )), '\\nQuestion: ', '{escaped_prompt}' ) ) AS answer """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938462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Sanitization: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Escapes single quotes to prevent SQL syntax failures.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90912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SEARCH_PREVIEW: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Fetches relevant file snippets dynamically based on query.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043362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COMPLETE: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Generates response strictly bounded by extracted context.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84205" y="2476500"/>
            <a:ext cx="5664844" cy="2428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1F5F9"/>
                </a:solidFill>
                <a:latin typeface="monospace"/>
              </a:rPr>
              <a:t>escaped_prompt = prompt.replace(</a:t>
            </a:r>
            <a:r>
              <a:rPr b="0" sz="975" i="0" u="none">
                <a:solidFill>
                  <a:srgbClr val="A855F7"/>
                </a:solidFill>
                <a:latin typeface="monospace"/>
              </a:rPr>
              <a:t>"'"</a:t>
            </a:r>
            <a:r>
              <a:rPr b="0" sz="975" i="0" u="none">
                <a:solidFill>
                  <a:srgbClr val="F1F5F9"/>
                </a:solidFill>
                <a:latin typeface="monospace"/>
              </a:rPr>
              <a:t>, </a:t>
            </a:r>
            <a:r>
              <a:rPr b="0" sz="975" i="0" u="none">
                <a:solidFill>
                  <a:srgbClr val="A855F7"/>
                </a:solidFill>
                <a:latin typeface="monospace"/>
              </a:rPr>
              <a:t>"''"</a:t>
            </a:r>
            <a:r>
              <a:rPr b="0" sz="975" i="0" u="none">
                <a:solidFill>
                  <a:srgbClr val="F1F5F9"/>
                </a:solidFill>
                <a:latin typeface="monospace"/>
              </a:rPr>
              <a:t>) cortex_query = </a:t>
            </a:r>
            <a:r>
              <a:rPr b="0" sz="975" i="0" u="none">
                <a:solidFill>
                  <a:srgbClr val="A855F7"/>
                </a:solidFill>
                <a:latin typeface="monospace"/>
              </a:rPr>
              <a:t>f""" SELECT SNOWFLAKE.CORTEX.COMPLETE( '{selected_model}', CONCAT( 'Answer based ONLY on context:\\n', (SELECT TO_VARCHAR( SNOWFLAKE.CORTEX.SEARCH_PREVIEW( 'my_file_search_service', '{escaped_prompt}' ) )), '\\nQuestion: ', '{escaped_prompt}' ) ) AS answer """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55605" y="2547937"/>
            <a:ext cx="6026794" cy="22860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Step 4: Executing Query &amp; Rendering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84205" y="2776537"/>
            <a:ext cx="566484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3F5E"/>
                </a:solidFill>
                <a:latin typeface="JetBrains Mono"/>
              </a:rPr>
              <a:t># Execute SQL query via Snowpark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df = session.sql(cortex_query).collect() response_text = df[</a:t>
            </a:r>
            <a:r>
              <a:rPr b="0" sz="1050" i="0" u="none">
                <a:solidFill>
                  <a:srgbClr val="A855F7"/>
                </a:solidFill>
                <a:latin typeface="JetBrains Mono"/>
              </a:rPr>
              <a:t>0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][</a:t>
            </a:r>
            <a:r>
              <a:rPr b="0" sz="1050" i="0" u="none">
                <a:solidFill>
                  <a:srgbClr val="A855F7"/>
                </a:solidFill>
                <a:latin typeface="JetBrains Mono"/>
              </a:rPr>
              <a:t>'ANSWER'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]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# Render output in app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st.markdown(response_text) 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# Append to chat history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 st.session_state.messages.append({ </a:t>
            </a:r>
            <a:r>
              <a:rPr b="0" sz="1050" i="0" u="none">
                <a:solidFill>
                  <a:srgbClr val="A855F7"/>
                </a:solidFill>
                <a:latin typeface="JetBrains Mono"/>
              </a:rPr>
              <a:t>"role"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: </a:t>
            </a:r>
            <a:r>
              <a:rPr b="0" sz="1050" i="0" u="none">
                <a:solidFill>
                  <a:srgbClr val="A855F7"/>
                </a:solidFill>
                <a:latin typeface="JetBrains Mono"/>
              </a:rPr>
              <a:t>"assistant"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, </a:t>
            </a:r>
            <a:r>
              <a:rPr b="0" sz="1050" i="0" u="none">
                <a:solidFill>
                  <a:srgbClr val="A855F7"/>
                </a:solidFill>
                <a:latin typeface="JetBrains Mono"/>
              </a:rPr>
              <a:t>"content"</a:t>
            </a:r>
            <a:r>
              <a:rPr b="0" sz="1050" i="0" u="none">
                <a:solidFill>
                  <a:srgbClr val="F43F5E"/>
                </a:solidFill>
                <a:latin typeface="JetBrains Mono"/>
              </a:rPr>
              <a:t>: response_text 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4205" y="2776537"/>
            <a:ext cx="5664844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43F5E"/>
                </a:solidFill>
                <a:latin typeface="monospace"/>
              </a:rPr>
              <a:t># Execute SQL query via Snowpark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df = session.sql(cortex_query).collect() response_text = df[</a:t>
            </a:r>
            <a:r>
              <a:rPr b="0" sz="1050" i="0" u="none">
                <a:solidFill>
                  <a:srgbClr val="A855F7"/>
                </a:solidFill>
                <a:latin typeface="monospace"/>
              </a:rPr>
              <a:t>0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][</a:t>
            </a:r>
            <a:r>
              <a:rPr b="0" sz="1050" i="0" u="none">
                <a:solidFill>
                  <a:srgbClr val="A855F7"/>
                </a:solidFill>
                <a:latin typeface="monospace"/>
              </a:rPr>
              <a:t>'ANSWER'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]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# Render output in app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st.markdown(response_text) </a:t>
            </a:r>
            <a:r>
              <a:rPr b="0" sz="1050" i="0" u="none">
                <a:solidFill>
                  <a:srgbClr val="F43F5E"/>
                </a:solidFill>
                <a:latin typeface="monospace"/>
              </a:rPr>
              <a:t># Append to chat history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 st.session_state.messages.append({ </a:t>
            </a:r>
            <a:r>
              <a:rPr b="0" sz="1050" i="0" u="none">
                <a:solidFill>
                  <a:srgbClr val="A855F7"/>
                </a:solidFill>
                <a:latin typeface="monospace"/>
              </a:rPr>
              <a:t>"role"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: </a:t>
            </a:r>
            <a:r>
              <a:rPr b="0" sz="1050" i="0" u="none">
                <a:solidFill>
                  <a:srgbClr val="A855F7"/>
                </a:solidFill>
                <a:latin typeface="monospace"/>
              </a:rPr>
              <a:t>"assistant"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, </a:t>
            </a:r>
            <a:r>
              <a:rPr b="0" sz="1050" i="0" u="none">
                <a:solidFill>
                  <a:srgbClr val="A855F7"/>
                </a:solidFill>
                <a:latin typeface="monospace"/>
              </a:rPr>
              <a:t>"content"</a:t>
            </a:r>
            <a:r>
              <a:rPr b="0" sz="1050" i="0" u="none">
                <a:solidFill>
                  <a:srgbClr val="F1F5F9"/>
                </a:solidFill>
                <a:latin typeface="monospace"/>
              </a:rPr>
              <a:t>: response_text 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038475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Snowpark Execution: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Runs SQL seamlessly inside active warehouse.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590925"/>
            <a:ext cx="473645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Chat Display: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Streams response into UI using native Streamlit chat elements.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143375"/>
            <a:ext cx="58015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34155"/>
                </a:solidFill>
                <a:latin typeface="Inter"/>
              </a:rPr>
              <a:t>Session Storage: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Persists response to conversation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38550" y="3905250"/>
            <a:ext cx="4914900" cy="523875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70696" y="2428875"/>
            <a:ext cx="4850606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Ready to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143250"/>
            <a:ext cx="7620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Combine Streamlit, Snowflake Cortex, and Search Services to launch secure, enterprise-ready RAG applications in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17093" y="4067175"/>
            <a:ext cx="5357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38BDF8"/>
                </a:solidFill>
                <a:latin typeface="JetBrains Mono"/>
              </a:rPr>
              <a:t>Deploy natively in Snowsight &gt; Streamlit 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